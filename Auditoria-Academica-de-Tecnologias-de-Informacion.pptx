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abin" panose="020B0604020202020204" charset="0"/>
      <p:regular r:id="rId9"/>
    </p:embeddedFont>
    <p:embeddedFont>
      <p:font typeface="Cabin Bold" panose="020B0604020202020204" charset="0"/>
      <p:regular r:id="rId10"/>
    </p:embeddedFont>
    <p:embeddedFont>
      <p:font typeface="Unbounde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65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544737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Auditoría Académica de Tecnologías de Información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603923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Evaluación documental de controles en </a:t>
            </a: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Grupo Éxito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4147443"/>
            <a:ext cx="4103089" cy="303113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5389626" y="4207272"/>
            <a:ext cx="4473364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AUDITORÍA DE SISTEMAS · 17 DE SEPTIEMBRE DE 2026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269971" y="4674890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Yazín Castaño Moreno · Giann Frank Flórez Jaramillo · Institución Universitaria Marco Fidel Suárez</a:t>
            </a:r>
            <a:endParaRPr lang="en-US" sz="155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9699C5A-27C8-1B54-985E-746751E9CB63}"/>
              </a:ext>
            </a:extLst>
          </p:cNvPr>
          <p:cNvSpPr/>
          <p:nvPr/>
        </p:nvSpPr>
        <p:spPr>
          <a:xfrm>
            <a:off x="11073384" y="6538813"/>
            <a:ext cx="1029810" cy="310896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76759"/>
            <a:ext cx="6223638" cy="971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Introducción y Contexto Organizacional</a:t>
            </a:r>
            <a:endParaRPr lang="en-US" sz="3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1753691"/>
            <a:ext cx="6223638" cy="14180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8429" y="1937841"/>
            <a:ext cx="577914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¿Qué se evalúa?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958429" y="2262783"/>
            <a:ext cx="5779149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Diseño documental de controles de seguridad, acceso, monitoreo, incidentes, cambios y recuperación de desastres, con base en la Política L-0200, Guía G-0799 y marcos NIST CSF 2.0 e ISO/IEC 27001:2022.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308449"/>
            <a:ext cx="6223638" cy="141803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8429" y="3492599"/>
            <a:ext cx="577914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Grupo Éxito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958429" y="3817541"/>
            <a:ext cx="5779149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Organización de comercio al detal con marco TI en cinco dominios: productos digitales, riesgos y seguridad, estrategia y finanzas, ingeniería continua, e infraestructura tecnológica. La analítica opera como capacidad transversal.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863207"/>
            <a:ext cx="6223638" cy="141803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8429" y="5047357"/>
            <a:ext cx="577914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Alcance documental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958429" y="5372298"/>
            <a:ext cx="5779149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Este informe </a:t>
            </a:r>
            <a:r>
              <a:rPr lang="en-US" sz="13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no constituye una auditoría oficial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Los riesgos y oportunidades son hipótesis académicas que deben validarse con evidencia adicional, entrevistas y autorización formal.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2399"/>
            <a:ext cx="10795524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Metodología e Inventario de Activos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98086" y="1385094"/>
            <a:ext cx="520766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Enfoque metodológico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8086" y="1736030"/>
            <a:ext cx="5207663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Auditoría documental no invasiva: revisión de políticas, análisis cualitativo de riesgos (escala 1–5; riesgo = probabilidad × impacto), listas de chequeo y formulación de pruebas. Sin acceso a configuraciones ni ambientes productivos.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8086" y="2539107"/>
            <a:ext cx="5207663" cy="963017"/>
          </a:xfrm>
          <a:prstGeom prst="roundRect">
            <a:avLst>
              <a:gd name="adj" fmla="val 2427"/>
            </a:avLst>
          </a:prstGeom>
          <a:solidFill>
            <a:srgbClr val="08786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55" y="2728516"/>
            <a:ext cx="194762" cy="1557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4386" y="2687538"/>
            <a:ext cx="4545593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Las entrevistas fueron diseñadas pero no ejecutadas. Deben realizarse con dueños de proceso, seguridad, operaciones y continuidad.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92296" y="1385094"/>
            <a:ext cx="520766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Categorías de activos evaluadas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92296" y="1751211"/>
            <a:ext cx="2542913" cy="1106587"/>
          </a:xfrm>
          <a:prstGeom prst="roundRect">
            <a:avLst>
              <a:gd name="adj" fmla="val 211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6448065" y="1906984"/>
            <a:ext cx="223137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A1 · Información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48065" y="2257921"/>
            <a:ext cx="2231374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Datos corporativos, personales y financieros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56947" y="1751211"/>
            <a:ext cx="2543012" cy="1106587"/>
          </a:xfrm>
          <a:prstGeom prst="roundRect">
            <a:avLst>
              <a:gd name="adj" fmla="val 211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9112717" y="1906984"/>
            <a:ext cx="223147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A2 · Aplicaciones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12717" y="2257921"/>
            <a:ext cx="223147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Servicios críticos e integraciones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92296" y="2979539"/>
            <a:ext cx="2542913" cy="1106587"/>
          </a:xfrm>
          <a:prstGeom prst="roundRect">
            <a:avLst>
              <a:gd name="adj" fmla="val 211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6448065" y="3135313"/>
            <a:ext cx="223137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A3 · Infraestructura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48065" y="3486249"/>
            <a:ext cx="2231374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Servidores, redes y almacenamiento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56947" y="2979539"/>
            <a:ext cx="2543012" cy="1106587"/>
          </a:xfrm>
          <a:prstGeom prst="roundRect">
            <a:avLst>
              <a:gd name="adj" fmla="val 211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9112717" y="3135313"/>
            <a:ext cx="223147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A4 · Identidades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12717" y="3486249"/>
            <a:ext cx="2231473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Cuentas, roles y accesos privilegiados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92296" y="4207867"/>
            <a:ext cx="2542913" cy="884535"/>
          </a:xfrm>
          <a:prstGeom prst="roundRect">
            <a:avLst>
              <a:gd name="adj" fmla="val 264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6448065" y="4363641"/>
            <a:ext cx="223137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A5 · Registros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48065" y="4714577"/>
            <a:ext cx="2231374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Logs, métricas y alertas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956947" y="4207867"/>
            <a:ext cx="2543012" cy="884535"/>
          </a:xfrm>
          <a:prstGeom prst="roundRect">
            <a:avLst>
              <a:gd name="adj" fmla="val 264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9112717" y="4363641"/>
            <a:ext cx="223147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A6 · Continuidad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112717" y="4714577"/>
            <a:ext cx="223147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BIA, respaldos y planes DR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92296" y="5214144"/>
            <a:ext cx="5207663" cy="884535"/>
          </a:xfrm>
          <a:prstGeom prst="roundRect">
            <a:avLst>
              <a:gd name="adj" fmla="val 264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5"/>
          <p:cNvSpPr/>
          <p:nvPr/>
        </p:nvSpPr>
        <p:spPr>
          <a:xfrm>
            <a:off x="6448065" y="5369917"/>
            <a:ext cx="489612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A7 · Terceros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48065" y="5720854"/>
            <a:ext cx="4896124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Servicios tecnológicos externos</a:t>
            </a:r>
            <a:endParaRPr lang="en-US" sz="12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7CBD543-23FE-D87F-0E75-02F7776DC1E9}"/>
              </a:ext>
            </a:extLst>
          </p:cNvPr>
          <p:cNvSpPr/>
          <p:nvPr/>
        </p:nvSpPr>
        <p:spPr>
          <a:xfrm>
            <a:off x="11073384" y="6538813"/>
            <a:ext cx="1029810" cy="310896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4916"/>
            <a:ext cx="10795524" cy="115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Matriz de Riesgos — Valoración Preliminar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257326"/>
            <a:ext cx="5158254" cy="37129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1705" y="2233216"/>
            <a:ext cx="5158254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Interpretación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1705" y="2715220"/>
            <a:ext cx="5158254" cy="173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350"/>
              </a:spcAft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Escala académica: </a:t>
            </a:r>
            <a:r>
              <a:rPr lang="en-US" sz="15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1–4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bajo · </a:t>
            </a:r>
            <a:r>
              <a:rPr lang="en-US" sz="15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5–9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moderado · </a:t>
            </a:r>
            <a:r>
              <a:rPr lang="en-US" sz="15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10–15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alto · </a:t>
            </a:r>
            <a:r>
              <a:rPr lang="en-US" sz="15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16–25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extremo.</a:t>
            </a:r>
            <a:endParaRPr lang="en-US" sz="15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Tres riesgos alcanzan nivel </a:t>
            </a:r>
            <a:r>
              <a:rPr lang="en-US" sz="150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extremo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accesos no retirados (R1), monitoreo insuficiente (R3) y vulnerabilidades no tratadas (R8). Los cinco restantes son de nivel alto.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341705" y="4664770"/>
            <a:ext cx="5158254" cy="1380827"/>
          </a:xfrm>
          <a:prstGeom prst="roundRect">
            <a:avLst>
              <a:gd name="adj" fmla="val 2133"/>
            </a:avLst>
          </a:prstGeom>
          <a:solidFill>
            <a:srgbClr val="08786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054" y="4957465"/>
            <a:ext cx="245362" cy="1963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79765" y="4887714"/>
            <a:ext cx="4323845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Los valores son preliminares y deben ser validados por los dueños de riesgo. No se dispone de estadísticas ni resultados operativos.</a:t>
            </a:r>
            <a:endParaRPr lang="en-US" sz="15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7ACCE99-0D0A-5AC8-FA48-BBCB19541F86}"/>
              </a:ext>
            </a:extLst>
          </p:cNvPr>
          <p:cNvSpPr/>
          <p:nvPr/>
        </p:nvSpPr>
        <p:spPr>
          <a:xfrm>
            <a:off x="11073384" y="6538813"/>
            <a:ext cx="1029810" cy="310896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28948"/>
            <a:ext cx="6223638" cy="714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Evaluación de Controles y Observaciones</a:t>
            </a:r>
            <a:endParaRPr lang="en-US" sz="2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1454944"/>
            <a:ext cx="6223638" cy="99982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08817" y="1546126"/>
            <a:ext cx="145848" cy="182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404211" y="1941016"/>
            <a:ext cx="5955159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OA-01 · Accesos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04211" y="2164060"/>
            <a:ext cx="595515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Política define mínimo privilegio y recertificación; no se revisaron muestras. </a:t>
            </a: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Riesgo: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acceso no pertinente.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2528788"/>
            <a:ext cx="6223638" cy="99982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308817" y="2619970"/>
            <a:ext cx="145848" cy="182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404211" y="3014861"/>
            <a:ext cx="5955159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OA-02 · Recuperación DR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404211" y="3237905"/>
            <a:ext cx="595515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G-0799 define pruebas y roles; no se inspeccionaron informes de ejecución. </a:t>
            </a: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Riesgo: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recuperación tardía.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3602633"/>
            <a:ext cx="6223638" cy="99982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8817" y="3693815"/>
            <a:ext cx="145848" cy="182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5404211" y="4088705"/>
            <a:ext cx="5955159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OA-03 · Observabilidad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04211" y="4311749"/>
            <a:ext cx="595515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Lineamientos incluyen logs y alertas; sin inventario de cobertura. </a:t>
            </a: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Riesgo: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fallas no detectadas.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4676477"/>
            <a:ext cx="6223638" cy="115629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308817" y="4767659"/>
            <a:ext cx="145848" cy="182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5404211" y="5162550"/>
            <a:ext cx="5955159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OA-04 · Indicador de cambios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404211" y="5385594"/>
            <a:ext cx="5955159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lógica del indicador puede distorsionar la calidad al no diferenciar cambios de intentos. </a:t>
            </a: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Riesgo: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decisiones basadas en métrica no representativa.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5269971" y="5916017"/>
            <a:ext cx="6223638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alineación documental con NIST CSF 2.0 e ISO 27001 es consistente en diseño; la </a:t>
            </a: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eficacia operativa queda pendiente de prueba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95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E1C35D7-FFB0-DCCB-880F-839185145FD3}"/>
              </a:ext>
            </a:extLst>
          </p:cNvPr>
          <p:cNvSpPr/>
          <p:nvPr/>
        </p:nvSpPr>
        <p:spPr>
          <a:xfrm>
            <a:off x="11073384" y="6538813"/>
            <a:ext cx="1029810" cy="310896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3193"/>
            <a:ext cx="10795524" cy="3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Plan de Mejoramiento y Conclusiones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98086" y="1222871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Acciones prioritarias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8086" y="1511995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8086" y="1715294"/>
            <a:ext cx="5238123" cy="1905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98086" y="1818779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Recertificación de accesos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8086" y="2097088"/>
            <a:ext cx="523812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100% de muestra con soporte — 90 días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8086" y="2454374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8086" y="2657673"/>
            <a:ext cx="5238123" cy="1905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98086" y="2761159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Expediente prueba DR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8086" y="3039467"/>
            <a:ext cx="523812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RTO/RPO, minutograma y cierres — 60 días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8086" y="3396754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8086" y="3600053"/>
            <a:ext cx="5238123" cy="1905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98086" y="3703538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Cobertura de monitoreo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8086" y="3981847"/>
            <a:ext cx="523812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Conciliar activos críticos con alertas — 90 días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086" y="4339134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8086" y="4542433"/>
            <a:ext cx="5238123" cy="1905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98086" y="4645918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Indicador de cambios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8086" y="4924227"/>
            <a:ext cx="523812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Diferenciar cambios, intentos y reversas — 60 días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8086" y="5281513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8086" y="5484813"/>
            <a:ext cx="5238123" cy="1905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98086" y="5588298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Repositorio de evidencias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8086" y="5866606"/>
            <a:ext cx="523812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Revisión trimestral de acciones — 30 días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1836" y="1222871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Conclusiones clave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1836" y="1501180"/>
            <a:ext cx="5238123" cy="11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Grupo Éxito dispone de lineamientos robustos que abarcan gobierno, riesgos, accesos, incidentes, respaldos y monitoreo. El principal resultado es la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definición de aspectos que requieren prueba operativa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existencia de una política es evidencia de </a:t>
            </a:r>
            <a:r>
              <a:rPr lang="en-US" sz="100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diseño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pero no confirma aplicación consistente ni eficacia. Las recomendaciones se orientan a fortalecer evidencia y trazabilidad, no a sustituir procesos existentes.</a:t>
            </a:r>
            <a:endParaRPr lang="en-US" sz="10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83BC71A-CB9E-E506-30E1-DF3BEB484A04}"/>
              </a:ext>
            </a:extLst>
          </p:cNvPr>
          <p:cNvSpPr/>
          <p:nvPr/>
        </p:nvSpPr>
        <p:spPr>
          <a:xfrm>
            <a:off x="11073384" y="6538813"/>
            <a:ext cx="1029810" cy="310896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625</Words>
  <Application>Microsoft Office PowerPoint</Application>
  <PresentationFormat>Panorámica</PresentationFormat>
  <Paragraphs>75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Cabin Bold</vt:lpstr>
      <vt:lpstr>Unbounded Light</vt:lpstr>
      <vt:lpstr>Cabin</vt:lpstr>
      <vt:lpstr>Arial</vt:lpstr>
      <vt:lpstr>Unbounded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YAZIN CASTAÑO MORENO</cp:lastModifiedBy>
  <cp:revision>2</cp:revision>
  <dcterms:created xsi:type="dcterms:W3CDTF">2026-09-24T20:18:03Z</dcterms:created>
  <dcterms:modified xsi:type="dcterms:W3CDTF">2026-09-24T20:19:30Z</dcterms:modified>
</cp:coreProperties>
</file>